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73152" cy="4924044"/>
          </a:xfrm>
          <a:prstGeom prst="rect">
            <a:avLst/>
          </a:prstGeom>
          <a:solidFill>
            <a:srgbClr val="17A2BB"/>
          </a:solidFill>
          <a:ln w="12700">
            <a:solidFill>
              <a:srgbClr val="17A2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0D7490"/>
          </a:solidFill>
          <a:ln w="25400">
            <a:solidFill>
              <a:srgbClr val="17A2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240280" y="118872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– Layer 3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240280" y="192024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7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Layer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240280" y="2487168"/>
            <a:ext cx="5029200" cy="0"/>
          </a:xfrm>
          <a:prstGeom prst="line">
            <a:avLst/>
          </a:prstGeom>
          <a:noFill/>
          <a:ln w="19050">
            <a:solidFill>
              <a:srgbClr val="0D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26060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the Internet Layer in the TCP/IP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40280" y="44805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Rose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OSI Model – Layer 3  |  Network Layer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vs TCP/IP Model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490"/>
                </a:solidFill>
              </a:rPr>
              <a:t>OSI Model (7 layers)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16152"/>
            <a:ext cx="3474720" cy="438912"/>
          </a:xfrm>
          <a:prstGeom prst="rect">
            <a:avLst/>
          </a:prstGeom>
          <a:solidFill>
            <a:srgbClr val="D0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1615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7 – Application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474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6 – Presentation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3474720" cy="438912"/>
          </a:xfrm>
          <a:prstGeom prst="rect">
            <a:avLst/>
          </a:prstGeom>
          <a:solidFill>
            <a:srgbClr val="D0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6712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5 – Session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642616"/>
            <a:ext cx="3474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426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4 – Transport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18104"/>
            <a:ext cx="3474720" cy="438912"/>
          </a:xfrm>
          <a:prstGeom prst="rect">
            <a:avLst/>
          </a:prstGeom>
          <a:solidFill>
            <a:srgbClr val="0D749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181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 – Network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593592"/>
            <a:ext cx="3474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935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2 – Data Link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3474720" cy="438912"/>
          </a:xfrm>
          <a:prstGeom prst="rect">
            <a:avLst/>
          </a:prstGeom>
          <a:solidFill>
            <a:srgbClr val="D0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690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1 – Physical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23360" y="2651760"/>
            <a:ext cx="731520" cy="0"/>
          </a:xfrm>
          <a:prstGeom prst="line">
            <a:avLst/>
          </a:prstGeom>
          <a:noFill/>
          <a:ln w="31750">
            <a:solidFill>
              <a:srgbClr val="0D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24871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7490"/>
                </a:solidFill>
              </a:rPr>
              <a:t>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3776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490"/>
                </a:solidFill>
              </a:rPr>
              <a:t>TCP/IP Model (4 layers)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216152"/>
            <a:ext cx="3840480" cy="1426464"/>
          </a:xfrm>
          <a:prstGeom prst="rect">
            <a:avLst/>
          </a:prstGeom>
          <a:solidFill>
            <a:srgbClr val="D0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216152"/>
            <a:ext cx="3840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Application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2642616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6426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Transport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37760" y="3118104"/>
            <a:ext cx="3840480" cy="475488"/>
          </a:xfrm>
          <a:prstGeom prst="rect">
            <a:avLst/>
          </a:prstGeom>
          <a:solidFill>
            <a:srgbClr val="0D749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11810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Internet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(≈ Network Layer)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37760" y="3593592"/>
            <a:ext cx="384048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593592"/>
            <a:ext cx="38404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Network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Access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Layer 3 of the OSI model maps directly onto the Internet Layer of TCP/IP — both handle logical addressing and routing between networks.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OSI Model – Layer 3  |  Network Layer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Network Layer?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9601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is responsible for logical addressing, routing packets across multiple networks, and ensuring data reaches its destination — regardless of the underlying physical infrastructure.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023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64008" cy="11887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Logical Addressing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Assigns IP addresses so every device can be uniquely identified across different networks.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4023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920240"/>
            <a:ext cx="64008" cy="11887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11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Routing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Determines the best path for packets to travel from source to destination.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4023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46120"/>
            <a:ext cx="64008" cy="11887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37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Packet Forwarding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Moves packets from one network to the next, hop by hop, until they arrive.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246120"/>
            <a:ext cx="4023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246120"/>
            <a:ext cx="64008" cy="11887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337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Fragmentation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5760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Breaks large packets into smaller pieces to fit the MTU of each network, then reassembles at the destination.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OSI Model – Layer 3  |  Network Layer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Routing determines the optimal path for data to travel from source to destination across multiple networks. Routers use routing tables and protocols to make forwarding decisions.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023360" cy="402336"/>
          </a:xfrm>
          <a:prstGeom prst="rect">
            <a:avLst/>
          </a:prstGeom>
          <a:solidFill>
            <a:srgbClr val="1B5E7B"/>
          </a:solidFill>
          <a:ln w="12700">
            <a:solidFill>
              <a:srgbClr val="1B5E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Static Routing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911096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1109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B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Routes configured manually by a network admin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4023360" cy="475488"/>
          </a:xfrm>
          <a:prstGeom prst="rect">
            <a:avLst/>
          </a:prstGeom>
          <a:solidFill>
            <a:srgbClr val="EDF4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4140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B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Does not adapt to network changes automatically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16936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9169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B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Low overhead — no routing protocol traffic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419856"/>
            <a:ext cx="4023360" cy="475488"/>
          </a:xfrm>
          <a:prstGeom prst="rect">
            <a:avLst/>
          </a:prstGeom>
          <a:solidFill>
            <a:srgbClr val="EDF4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4198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B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Best for small or simple networks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508760"/>
            <a:ext cx="4023360" cy="40233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5087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Dynamic Routing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911096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91109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490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Routes learned automatically via routing protocols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414016"/>
            <a:ext cx="4023360" cy="475488"/>
          </a:xfrm>
          <a:prstGeom prst="rect">
            <a:avLst/>
          </a:prstGeom>
          <a:solidFill>
            <a:srgbClr val="EDF4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4140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490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Adapts in real-time if a link fails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916936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9169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490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Examples: RIP, OSPF, BGP, EIGRP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419856"/>
            <a:ext cx="4023360" cy="475488"/>
          </a:xfrm>
          <a:prstGeom prst="rect">
            <a:avLst/>
          </a:prstGeom>
          <a:solidFill>
            <a:srgbClr val="EDF4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4198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490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Preferred for large or complex networks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005072"/>
            <a:ext cx="8412480" cy="658368"/>
          </a:xfrm>
          <a:prstGeom prst="rect">
            <a:avLst/>
          </a:prstGeom>
          <a:solidFill>
            <a:srgbClr val="EBF7FC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050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490"/>
                </a:solidFill>
              </a:rPr>
              <a:t>Key Routing Protocols:  </a:t>
            </a:r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RIP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 (distance-vector, max 15 hops)   </a:t>
            </a:r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OSPF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 (link-state, large enterprise)   </a:t>
            </a:r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BGP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 (path-vector, routes the internet)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OSI Model – Layer 3  |  Network Layer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Addressing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Logical addresses (IP addresses) identify devices uniquely across networks. Unlike MAC addresses (Layer 2), they are not tied to hardware and can be assigned/changed by administrators.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28600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301752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IPv4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463040"/>
            <a:ext cx="301752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IPv6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847088"/>
            <a:ext cx="2286000" cy="457200"/>
          </a:xfrm>
          <a:prstGeom prst="rect">
            <a:avLst/>
          </a:prstGeom>
          <a:solidFill>
            <a:srgbClr val="D4EB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84708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Address length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51760" y="1847088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18470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32-bit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0" y="1847088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18470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128-bit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304288"/>
            <a:ext cx="2286000" cy="457200"/>
          </a:xfrm>
          <a:prstGeom prst="rect">
            <a:avLst/>
          </a:prstGeom>
          <a:solidFill>
            <a:srgbClr val="D4EB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30428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Format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651760" y="2304288"/>
            <a:ext cx="3017520" cy="457200"/>
          </a:xfrm>
          <a:prstGeom prst="rect">
            <a:avLst/>
          </a:prstGeom>
          <a:solidFill>
            <a:srgbClr val="EDF4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4912" y="23042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Dotted decimal  e.g. 192.168.1.1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0" y="2304288"/>
            <a:ext cx="3017520" cy="457200"/>
          </a:xfrm>
          <a:prstGeom prst="rect">
            <a:avLst/>
          </a:prstGeom>
          <a:solidFill>
            <a:srgbClr val="EDF4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42432" y="23042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Hexadecimal  e.g. 2001:0db8::1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2761488"/>
            <a:ext cx="2286000" cy="457200"/>
          </a:xfrm>
          <a:prstGeom prst="rect">
            <a:avLst/>
          </a:prstGeom>
          <a:solidFill>
            <a:srgbClr val="D4EB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76148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Address space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651760" y="2761488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24912" y="27614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~4.3 billion addresses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0" y="2761488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27614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~340 undecillion addresses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3218688"/>
            <a:ext cx="2286000" cy="457200"/>
          </a:xfrm>
          <a:prstGeom prst="rect">
            <a:avLst/>
          </a:prstGeom>
          <a:solidFill>
            <a:srgbClr val="D4EB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21868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Header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651760" y="3218688"/>
            <a:ext cx="3017520" cy="457200"/>
          </a:xfrm>
          <a:prstGeom prst="rect">
            <a:avLst/>
          </a:prstGeom>
          <a:solidFill>
            <a:srgbClr val="EDF4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24912" y="32186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Variable length (20–60 bytes)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0" y="3218688"/>
            <a:ext cx="3017520" cy="457200"/>
          </a:xfrm>
          <a:prstGeom prst="rect">
            <a:avLst/>
          </a:prstGeom>
          <a:solidFill>
            <a:srgbClr val="EDF4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2432" y="32186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Fixed 40 bytes (simpler routing)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65760" y="3675888"/>
            <a:ext cx="2286000" cy="457200"/>
          </a:xfrm>
          <a:prstGeom prst="rect">
            <a:avLst/>
          </a:prstGeom>
          <a:solidFill>
            <a:srgbClr val="D4EB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67588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NAT required?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651760" y="3675888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24912" y="36758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Often yes (address exhaustion)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0" y="3675888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42432" y="36758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No — enough addresses for all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Subnetting splits a network into smaller segments using a subnet mask (e.g. /24 = 255.255.255.0), improving efficiency and security.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OSI Model – Layer 3  |  Network Layer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Service (QoS)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QoS manages network traffic to reduce packet loss, latency, and jitter — ensuring time-sensitive data gets priority over less critical traffic.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633472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17320"/>
            <a:ext cx="2633472" cy="40233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Packet Loss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874520"/>
            <a:ext cx="24231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When packets fail to reach their destination. Causes retransmissions and degrades performance.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33472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417320"/>
            <a:ext cx="2633472" cy="40233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1732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Latency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1874520"/>
            <a:ext cx="24231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The delay between sending and receiving a packet. Critical for real-time applications like VoIP.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633472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417320"/>
            <a:ext cx="2633472" cy="40233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41732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Jitter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44768" y="1874520"/>
            <a:ext cx="24231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Variation in packet arrival time. High jitter disrupts audio/video quality in streaming.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84124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461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QoS Traffic Priority — Highest to Lowest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6576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VoIP / Real-time voice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3694176"/>
            <a:ext cx="51206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3694176"/>
            <a:ext cx="4864608" cy="14630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365760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95%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8907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Video conferencing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3927348"/>
            <a:ext cx="51206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3927348"/>
            <a:ext cx="4096512" cy="146304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38907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80%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1239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Business applications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37560" y="4160520"/>
            <a:ext cx="51206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4160520"/>
            <a:ext cx="2816352" cy="146304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41239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55%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3571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Video streaming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37560" y="4393692"/>
            <a:ext cx="51206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7560" y="4393692"/>
            <a:ext cx="1792224" cy="1463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43571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35%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5902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File transfers / Backups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37560" y="4626864"/>
            <a:ext cx="51206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37560" y="4626864"/>
            <a:ext cx="768096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0" y="45902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15%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OSI Model – Layer 3  |  Network Layer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Layer 3 Protocols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406908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96012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4124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" y="1499616"/>
            <a:ext cx="886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A2BB"/>
                </a:solidFill>
              </a:rPr>
              <a:t>Internet Protocol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17320" y="932688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 core Layer 3 protocol. Provides logical addressing (IPv4/IPv6) and routes packets between networks. Connectionless and unreliable by design — reliability is handled by Layer 4 (TCP).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406908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96012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4124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ICMP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45736" y="1499616"/>
            <a:ext cx="886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A2BB"/>
                </a:solidFill>
              </a:rPr>
              <a:t>Internet Control Message Protocol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60720" y="932688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Used for diagnostics and error reporting. Powers tools like ping and traceroute. Routers use ICMP to report unreachable hosts or network issues.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12848"/>
            <a:ext cx="406908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212848"/>
            <a:ext cx="96012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1284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2336" y="2871216"/>
            <a:ext cx="886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A2BB"/>
                </a:solidFill>
              </a:rPr>
              <a:t>Address Resolution Protocol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417320" y="2304288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Maps a known IP address (Layer 3) to a MAC address (Layer 2). Essential for local network communication. Operates at the boundary of Layers 2 and 3.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212848"/>
            <a:ext cx="406908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212848"/>
            <a:ext cx="96012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21284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OSPF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45736" y="2871216"/>
            <a:ext cx="886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A2BB"/>
                </a:solidFill>
              </a:rPr>
              <a:t>Open Shortest Path First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60720" y="2304288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link-state routing protocol. Routers share topology information and use Dijkstra's algorithm to calculate the shortest path. Widely used in enterprise networks.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584448"/>
            <a:ext cx="406908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584448"/>
            <a:ext cx="96012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58444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BGP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2336" y="4242816"/>
            <a:ext cx="886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A2BB"/>
                </a:solidFill>
              </a:rPr>
              <a:t>Border Gateway Protocol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17320" y="3675888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 routing protocol of the internet. Manages routing between autonomous systems (AS). Uses path attributes rather than simple hop counts to make routing decisions.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584448"/>
            <a:ext cx="406908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584448"/>
            <a:ext cx="96012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58444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NAT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45736" y="4242816"/>
            <a:ext cx="886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A2BB"/>
                </a:solidFill>
              </a:rPr>
              <a:t>Network Address Translation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760720" y="3675888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Translates private IP addresses to a public IP (and back). Allows multiple devices on a private network to share one public IP address.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&amp; Reassembly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2700">
            <a:solidFill>
              <a:srgbClr val="0D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Different network technologies have different Maximum Transmission Unit (MTU) sizes — the largest packet they can carry. When a packet is too large, Layer 3 fragments it into smaller pieces.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09928"/>
            <a:ext cx="1920240" cy="594360"/>
          </a:xfrm>
          <a:prstGeom prst="rect">
            <a:avLst/>
          </a:prstGeom>
          <a:solidFill>
            <a:srgbClr val="0D7490"/>
          </a:solidFill>
          <a:ln w="12700">
            <a:solidFill>
              <a:srgbClr val="17A2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099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Original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Packet (4000B)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22576" y="2011680"/>
            <a:ext cx="502920" cy="0"/>
          </a:xfrm>
          <a:prstGeom prst="line">
            <a:avLst/>
          </a:prstGeom>
          <a:noFill/>
          <a:ln w="25400">
            <a:solidFill>
              <a:srgbClr val="17A2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A2BB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1417320"/>
            <a:ext cx="1737360" cy="566928"/>
          </a:xfrm>
          <a:prstGeom prst="rect">
            <a:avLst/>
          </a:prstGeom>
          <a:solidFill>
            <a:srgbClr val="0D5F7A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4173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Frag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(1480B)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2020824"/>
            <a:ext cx="1737360" cy="566928"/>
          </a:xfrm>
          <a:prstGeom prst="rect">
            <a:avLst/>
          </a:prstGeom>
          <a:solidFill>
            <a:srgbClr val="0D5F7A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02082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Frag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(1480B)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624328"/>
            <a:ext cx="1737360" cy="566928"/>
          </a:xfrm>
          <a:prstGeom prst="rect">
            <a:avLst/>
          </a:prstGeom>
          <a:solidFill>
            <a:srgbClr val="0D5F7A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6243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Frag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(1040B)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32644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Ethernet MTU = 1500 bytes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011680"/>
            <a:ext cx="502920" cy="0"/>
          </a:xfrm>
          <a:prstGeom prst="line">
            <a:avLst/>
          </a:prstGeom>
          <a:noFill/>
          <a:ln w="25400">
            <a:solidFill>
              <a:srgbClr val="17A2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0056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A2BB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57800" y="1709928"/>
            <a:ext cx="2011680" cy="594360"/>
          </a:xfrm>
          <a:prstGeom prst="rect">
            <a:avLst/>
          </a:prstGeom>
          <a:solidFill>
            <a:srgbClr val="1A6B4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7099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Reassembled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 Destination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27355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A2BB"/>
                </a:solidFill>
              </a:rPr>
              <a:t>Fragmentation offset: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Each fragment carries an offset field so the receiver knows where it fits.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09160" y="327355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A2BB"/>
                </a:solidFill>
              </a:rPr>
              <a:t>More Fragments (MF) flag: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Set to 1 on all fragments except the last, signalling more pieces are coming.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405079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A2BB"/>
                </a:solidFill>
              </a:rPr>
              <a:t>IPv6 difference: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IPv6 does NOT allow routers to fragment — the source device must perform Path MTU Discovery first.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09160" y="405079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A2BB"/>
                </a:solidFill>
              </a:rPr>
              <a:t>Performance impact: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Fragmentation adds overhead. Modern networks use Path MTU Discovery to avoid it where possible.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– Layer 3 Key Points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0D7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96112"/>
            <a:ext cx="8229600" cy="5120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96112"/>
            <a:ext cx="64008" cy="512064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96112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A2BB"/>
                </a:solidFill>
              </a:rPr>
              <a:t>1.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Layer 3 is the Network Layer — equivalent to the Internet Layer in TCP/IP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472184"/>
            <a:ext cx="8229600" cy="512064"/>
          </a:xfrm>
          <a:prstGeom prst="rect">
            <a:avLst/>
          </a:prstGeom>
          <a:solidFill>
            <a:srgbClr val="16304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72184"/>
            <a:ext cx="64008" cy="512064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72184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A2BB"/>
                </a:solidFill>
              </a:rPr>
              <a:t>2.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Responsible for logical addressing (IP), routing, packet forwarding, and fragmentation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8229600" cy="5120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48256"/>
            <a:ext cx="64008" cy="512064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48256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A2BB"/>
                </a:solidFill>
              </a:rPr>
              <a:t>3.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IPv4 uses 32-bit addresses; IPv6 uses 128-bit addresses to solve address exhaustion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624328"/>
            <a:ext cx="8229600" cy="512064"/>
          </a:xfrm>
          <a:prstGeom prst="rect">
            <a:avLst/>
          </a:prstGeom>
          <a:solidFill>
            <a:srgbClr val="16304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24328"/>
            <a:ext cx="64008" cy="512064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2432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A2BB"/>
                </a:solidFill>
              </a:rPr>
              <a:t>4.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Routing can be static (manual) or dynamic (via protocols like OSPF, BGP, RIP)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5120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00400"/>
            <a:ext cx="64008" cy="512064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00400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A2BB"/>
                </a:solidFill>
              </a:rPr>
              <a:t>5.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Key protocols: IP, ICMP, ARP, OSPF, BGP, NAT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776472"/>
            <a:ext cx="8229600" cy="512064"/>
          </a:xfrm>
          <a:prstGeom prst="rect">
            <a:avLst/>
          </a:prstGeom>
          <a:solidFill>
            <a:srgbClr val="16304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76472"/>
            <a:ext cx="64008" cy="512064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76472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A2BB"/>
                </a:solidFill>
              </a:rPr>
              <a:t>6.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QoS prioritises time-sensitive traffic (e.g. VoIP) to reduce latency and jitter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4352544"/>
            <a:ext cx="8229600" cy="5120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52544"/>
            <a:ext cx="64008" cy="512064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352544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A2BB"/>
                </a:solidFill>
              </a:rPr>
              <a:t>7.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Fragmentation splits oversized packets to match network MTU limits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OSI Model – Layer 3: The Network Layer</dc:title>
  <dc:subject>PptxGenJS Presentation</dc:subject>
  <dc:creator>Rose</dc:creator>
  <cp:lastModifiedBy>Rose</cp:lastModifiedBy>
  <cp:revision>1</cp:revision>
  <dcterms:created xsi:type="dcterms:W3CDTF">2026-03-13T14:10:56Z</dcterms:created>
  <dcterms:modified xsi:type="dcterms:W3CDTF">2026-03-13T14:10:56Z</dcterms:modified>
</cp:coreProperties>
</file>